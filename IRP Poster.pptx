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7"/>
  </p:notesMasterIdLst>
  <p:handoutMasterIdLst>
    <p:handoutMasterId r:id="rId8"/>
  </p:handoutMasterIdLst>
  <p:sldIdLst>
    <p:sldId id="286" r:id="rId5"/>
    <p:sldId id="287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C29C"/>
    <a:srgbClr val="4C1959"/>
    <a:srgbClr val="313650"/>
    <a:srgbClr val="303650"/>
    <a:srgbClr val="7F6CA1"/>
    <a:srgbClr val="B093C6"/>
    <a:srgbClr val="6DC4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86" autoAdjust="0"/>
  </p:normalViewPr>
  <p:slideViewPr>
    <p:cSldViewPr snapToGrid="0" showGuides="1">
      <p:cViewPr varScale="1">
        <p:scale>
          <a:sx n="103" d="100"/>
          <a:sy n="103" d="100"/>
        </p:scale>
        <p:origin x="294" y="108"/>
      </p:cViewPr>
      <p:guideLst>
        <p:guide orient="horz" pos="1728"/>
        <p:guide pos="3840"/>
      </p:guideLst>
    </p:cSldViewPr>
  </p:slideViewPr>
  <p:outlineViewPr>
    <p:cViewPr>
      <p:scale>
        <a:sx n="33" d="100"/>
        <a:sy n="33" d="100"/>
      </p:scale>
      <p:origin x="0" y="-161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082" y="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D50B603-F8EF-4339-A4FB-A12D8182BA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C8726F-3158-41C0-BB9F-B885853A805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51B3E-1325-48C3-8E2C-998D0099FC98}" type="datetimeFigureOut">
              <a:rPr lang="en-US" smtClean="0"/>
              <a:t>5/8/2026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9B6BB1-3FBD-4D36-9DC6-192A8F0137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7B54D2-81AD-4487-9D5C-A3F7EB6448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C88DE-0065-430D-A4D0-A9AF40AB53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0066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D39CC4-BC6F-4E80-BC0D-03833D02DC81}" type="datetimeFigureOut">
              <a:rPr lang="en-US" noProof="0" smtClean="0"/>
              <a:t>5/8/2026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4652E4-5120-44D6-918A-894636DEFCBD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3467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652E4-5120-44D6-918A-894636DEFCBD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724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Dark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739F7D1-31ED-4588-7F6B-7214367FBA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744" y="209677"/>
            <a:ext cx="9064752" cy="109791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3A1C6A-339B-343A-B0AD-F761FE91051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45" y="1344676"/>
            <a:ext cx="9064752" cy="511175"/>
          </a:xfrm>
        </p:spPr>
        <p:txBody>
          <a:bodyPr lIns="164592" tIns="0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35829F9-B704-5645-ABE3-F98170E89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6346" y="585334"/>
            <a:ext cx="1005840" cy="1005840"/>
          </a:xfrm>
          <a:prstGeom prst="ellipse">
            <a:avLst/>
          </a:pr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807DD9B-8716-9B22-9F91-88E6071F91D3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10487786" y="649342"/>
            <a:ext cx="822960" cy="822960"/>
          </a:xfrm>
          <a:prstGeom prst="ellipse">
            <a:avLst/>
          </a:prstGeom>
          <a:ln w="22225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08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3404" y="3046075"/>
            <a:ext cx="1828633" cy="96903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3608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70FD3BFF-C0B9-AA50-A3D6-B4A48EEF75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056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1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BEE5563-8FF1-7479-E11E-F0144D753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2496" y="4399153"/>
            <a:ext cx="685800" cy="685800"/>
          </a:xfrm>
          <a:prstGeom prst="ellipse">
            <a:avLst/>
          </a:prstGeom>
          <a:noFill/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69C1816-EC8E-961C-AC21-6D86E9C455A1}"/>
              </a:ext>
            </a:extLst>
          </p:cNvPr>
          <p:cNvSpPr>
            <a:spLocks noGrp="1" noChangeAspect="1"/>
          </p:cNvSpPr>
          <p:nvPr>
            <p:ph type="pic" sz="quarter" idx="35"/>
          </p:nvPr>
        </p:nvSpPr>
        <p:spPr>
          <a:xfrm>
            <a:off x="1796796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9F9A0E21-E67B-7E2F-ED16-4BABF078108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056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3404" y="5377870"/>
            <a:ext cx="1827083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3">
                    <a:lumMod val="75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62072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1FC81D-B431-FFA6-47F5-F40C79C53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46272" y="3046075"/>
            <a:ext cx="1828633" cy="9690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62072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3B992882-DF57-9DAF-2532-06C30C2D9F1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62072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3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E63250C-AB2E-9D56-C26C-1E211DFAD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87724" y="4399153"/>
            <a:ext cx="685800" cy="685800"/>
          </a:xfrm>
          <a:prstGeom prst="ellipse">
            <a:avLst/>
          </a:prstGeom>
          <a:noFill/>
          <a:ln w="127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Picture Placeholder 13">
            <a:extLst>
              <a:ext uri="{FF2B5EF4-FFF2-40B4-BE49-F238E27FC236}">
                <a16:creationId xmlns:a16="http://schemas.microsoft.com/office/drawing/2014/main" id="{50C6734A-2661-863D-C8B6-6A4DBC588FE4}"/>
              </a:ext>
            </a:extLst>
          </p:cNvPr>
          <p:cNvSpPr>
            <a:spLocks noGrp="1" noChangeAspect="1"/>
          </p:cNvSpPr>
          <p:nvPr>
            <p:ph type="pic" sz="quarter" idx="36"/>
          </p:nvPr>
        </p:nvSpPr>
        <p:spPr>
          <a:xfrm>
            <a:off x="4002024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50D7755C-4D0B-D8A7-6235-8E606B39F3A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862072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943485" y="5377870"/>
            <a:ext cx="1836387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2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0536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6BB721-1D88-1A03-1D55-5C79942C7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39140" y="3046075"/>
            <a:ext cx="1828634" cy="96903"/>
          </a:xfrm>
          <a:prstGeom prst="rect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50536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7CBDAD5E-0048-0813-47FC-FFE93F191C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065776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2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0D4CBD1-AAC9-3F04-3F49-E8579F6F7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2952" y="4402872"/>
            <a:ext cx="685800" cy="685800"/>
          </a:xfrm>
          <a:prstGeom prst="ellipse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icture Placeholder 13">
            <a:extLst>
              <a:ext uri="{FF2B5EF4-FFF2-40B4-BE49-F238E27FC236}">
                <a16:creationId xmlns:a16="http://schemas.microsoft.com/office/drawing/2014/main" id="{F154717D-74D1-298B-EF00-6CCA65AA969B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>
          <a:xfrm>
            <a:off x="6207252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3A23A057-C011-EB28-4869-A73F2E3B33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65776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142870" y="5377870"/>
            <a:ext cx="1827639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2"/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39000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B68F5A8-E314-7C7A-6CB2-3036DF2A8E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32009" y="3046075"/>
            <a:ext cx="1828635" cy="96903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239000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A44BB5F0-6856-4711-058C-73C1CBF4646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257288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5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EF56C89-6D7E-4196-72BF-23ACEE823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8180" y="4402872"/>
            <a:ext cx="685800" cy="685800"/>
          </a:xfrm>
          <a:prstGeom prst="ellipse">
            <a:avLst/>
          </a:prstGeom>
          <a:noFill/>
          <a:ln w="127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Picture Placeholder 13">
            <a:extLst>
              <a:ext uri="{FF2B5EF4-FFF2-40B4-BE49-F238E27FC236}">
                <a16:creationId xmlns:a16="http://schemas.microsoft.com/office/drawing/2014/main" id="{719C23E4-DE06-6FF4-1BC9-5305DE50D817}"/>
              </a:ext>
            </a:extLst>
          </p:cNvPr>
          <p:cNvSpPr>
            <a:spLocks noGrp="1" noChangeAspect="1"/>
          </p:cNvSpPr>
          <p:nvPr>
            <p:ph type="pic" sz="quarter" idx="38"/>
          </p:nvPr>
        </p:nvSpPr>
        <p:spPr>
          <a:xfrm>
            <a:off x="8412480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1">
            <a:extLst>
              <a:ext uri="{FF2B5EF4-FFF2-40B4-BE49-F238E27FC236}">
                <a16:creationId xmlns:a16="http://schemas.microsoft.com/office/drawing/2014/main" id="{F5A3DA8B-D38B-3994-FE85-0A331FBADA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57288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333507" y="5377870"/>
            <a:ext cx="1828375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5">
                    <a:lumMod val="60000"/>
                    <a:lumOff val="40000"/>
                  </a:schemeClr>
                </a:gs>
                <a:gs pos="100000">
                  <a:schemeClr val="accent6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3896BC4-3EFC-36C4-6071-4BF0E987F9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27464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6236E29-4894-FD6C-E56F-5B1CBA99A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24879" y="3046075"/>
            <a:ext cx="1828635" cy="96903"/>
          </a:xfrm>
          <a:prstGeom prst="rect">
            <a:avLst/>
          </a:prstGeom>
          <a:gradFill>
            <a:gsLst>
              <a:gs pos="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C2DA584-D9BC-7A01-6F48-363C7F6465E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27464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70C95BBB-511F-F8F5-EF37-C6109C4AF4E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44880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6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0EDAC9C-0C6E-2807-24D5-3E04B5E2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84738" y="4399153"/>
            <a:ext cx="685800" cy="685800"/>
          </a:xfrm>
          <a:prstGeom prst="ellipse">
            <a:avLst/>
          </a:prstGeom>
          <a:noFill/>
          <a:ln w="127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Picture Placeholder 13">
            <a:extLst>
              <a:ext uri="{FF2B5EF4-FFF2-40B4-BE49-F238E27FC236}">
                <a16:creationId xmlns:a16="http://schemas.microsoft.com/office/drawing/2014/main" id="{B1C0F0FD-844D-CC54-986F-B8522F12B0A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0599038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A00816D8-6779-7BDB-52AB-5BD0A2479E4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44880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6506AFF-E40E-308E-7907-FBFC4DAAB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524879" y="5376344"/>
            <a:ext cx="1828635" cy="3053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6"/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A11DE-725C-8DE4-9A24-3718A3D14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560" y="6072886"/>
            <a:ext cx="4114800" cy="365125"/>
          </a:xfrm>
          <a:prstGeom prst="rect">
            <a:avLst/>
          </a:prstGeom>
        </p:spPr>
        <p:txBody>
          <a:bodyPr/>
          <a:lstStyle>
            <a:lvl1pPr algn="l">
              <a:defRPr sz="10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D8153-A9C6-7A32-CDB7-BF9D7CB1A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8616" y="60728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378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Ligh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739F7D1-31ED-4588-7F6B-7214367FBA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744" y="209677"/>
            <a:ext cx="9064752" cy="1097915"/>
          </a:xfrm>
          <a:noFill/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3A1C6A-339B-343A-B0AD-F761FE91051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45" y="1344676"/>
            <a:ext cx="9064752" cy="511175"/>
          </a:xfrm>
        </p:spPr>
        <p:txBody>
          <a:bodyPr lIns="164592" tIns="0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35829F9-B704-5645-ABE3-F98170E89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6346" y="585334"/>
            <a:ext cx="1005840" cy="1005840"/>
          </a:xfrm>
          <a:prstGeom prst="ellipse">
            <a:avLst/>
          </a:pr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807DD9B-8716-9B22-9F91-88E6071F91D3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10487786" y="649342"/>
            <a:ext cx="822960" cy="822960"/>
          </a:xfrm>
          <a:prstGeom prst="ellipse">
            <a:avLst/>
          </a:prstGeom>
          <a:ln w="22225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08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3404" y="3046075"/>
            <a:ext cx="1828633" cy="96903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3608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70FD3BFF-C0B9-AA50-A3D6-B4A48EEF75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056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BEE5563-8FF1-7479-E11E-F0144D753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2496" y="4399153"/>
            <a:ext cx="685800" cy="685800"/>
          </a:xfrm>
          <a:prstGeom prst="ellipse">
            <a:avLst/>
          </a:prstGeom>
          <a:noFill/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69C1816-EC8E-961C-AC21-6D86E9C455A1}"/>
              </a:ext>
            </a:extLst>
          </p:cNvPr>
          <p:cNvSpPr>
            <a:spLocks noGrp="1" noChangeAspect="1"/>
          </p:cNvSpPr>
          <p:nvPr>
            <p:ph type="pic" sz="quarter" idx="35"/>
          </p:nvPr>
        </p:nvSpPr>
        <p:spPr>
          <a:xfrm>
            <a:off x="1796796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9F9A0E21-E67B-7E2F-ED16-4BABF078108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056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3404" y="5377870"/>
            <a:ext cx="1827083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3">
                    <a:lumMod val="75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62072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1FC81D-B431-FFA6-47F5-F40C79C53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46272" y="3046075"/>
            <a:ext cx="1828633" cy="9690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62072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3B992882-DF57-9DAF-2532-06C30C2D9F1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62072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E63250C-AB2E-9D56-C26C-1E211DFAD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87724" y="4399153"/>
            <a:ext cx="685800" cy="685800"/>
          </a:xfrm>
          <a:prstGeom prst="ellipse">
            <a:avLst/>
          </a:prstGeom>
          <a:noFill/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Picture Placeholder 13">
            <a:extLst>
              <a:ext uri="{FF2B5EF4-FFF2-40B4-BE49-F238E27FC236}">
                <a16:creationId xmlns:a16="http://schemas.microsoft.com/office/drawing/2014/main" id="{50C6734A-2661-863D-C8B6-6A4DBC588FE4}"/>
              </a:ext>
            </a:extLst>
          </p:cNvPr>
          <p:cNvSpPr>
            <a:spLocks noGrp="1" noChangeAspect="1"/>
          </p:cNvSpPr>
          <p:nvPr>
            <p:ph type="pic" sz="quarter" idx="36"/>
          </p:nvPr>
        </p:nvSpPr>
        <p:spPr>
          <a:xfrm>
            <a:off x="4002024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50D7755C-4D0B-D8A7-6235-8E606B39F3A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862072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943485" y="5377870"/>
            <a:ext cx="1836387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2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0536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6BB721-1D88-1A03-1D55-5C79942C7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39140" y="3046075"/>
            <a:ext cx="1828634" cy="96903"/>
          </a:xfrm>
          <a:prstGeom prst="rect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50536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7CBDAD5E-0048-0813-47FC-FFE93F191C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065776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0D4CBD1-AAC9-3F04-3F49-E8579F6F7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2952" y="4402872"/>
            <a:ext cx="685800" cy="685800"/>
          </a:xfrm>
          <a:prstGeom prst="ellipse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icture Placeholder 13">
            <a:extLst>
              <a:ext uri="{FF2B5EF4-FFF2-40B4-BE49-F238E27FC236}">
                <a16:creationId xmlns:a16="http://schemas.microsoft.com/office/drawing/2014/main" id="{F154717D-74D1-298B-EF00-6CCA65AA969B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>
          <a:xfrm>
            <a:off x="6207252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3A23A057-C011-EB28-4869-A73F2E3B33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65776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142870" y="5377870"/>
            <a:ext cx="1827639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2"/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39000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B68F5A8-E314-7C7A-6CB2-3036DF2A8E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32009" y="3046075"/>
            <a:ext cx="1828635" cy="96903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239000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A44BB5F0-6856-4711-058C-73C1CBF4646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257288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EF56C89-6D7E-4196-72BF-23ACEE823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8180" y="4402872"/>
            <a:ext cx="685800" cy="68580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Picture Placeholder 13">
            <a:extLst>
              <a:ext uri="{FF2B5EF4-FFF2-40B4-BE49-F238E27FC236}">
                <a16:creationId xmlns:a16="http://schemas.microsoft.com/office/drawing/2014/main" id="{719C23E4-DE06-6FF4-1BC9-5305DE50D817}"/>
              </a:ext>
            </a:extLst>
          </p:cNvPr>
          <p:cNvSpPr>
            <a:spLocks noGrp="1" noChangeAspect="1"/>
          </p:cNvSpPr>
          <p:nvPr>
            <p:ph type="pic" sz="quarter" idx="38"/>
          </p:nvPr>
        </p:nvSpPr>
        <p:spPr>
          <a:xfrm>
            <a:off x="8412480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1">
            <a:extLst>
              <a:ext uri="{FF2B5EF4-FFF2-40B4-BE49-F238E27FC236}">
                <a16:creationId xmlns:a16="http://schemas.microsoft.com/office/drawing/2014/main" id="{F5A3DA8B-D38B-3994-FE85-0A331FBADA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57288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333507" y="5377870"/>
            <a:ext cx="1828375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5">
                    <a:lumMod val="60000"/>
                    <a:lumOff val="40000"/>
                  </a:schemeClr>
                </a:gs>
                <a:gs pos="100000">
                  <a:schemeClr val="accent6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3896BC4-3EFC-36C4-6071-4BF0E987F9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27464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6236E29-4894-FD6C-E56F-5B1CBA99A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24879" y="3046075"/>
            <a:ext cx="1828635" cy="96903"/>
          </a:xfrm>
          <a:prstGeom prst="rect">
            <a:avLst/>
          </a:prstGeom>
          <a:gradFill>
            <a:gsLst>
              <a:gs pos="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C2DA584-D9BC-7A01-6F48-363C7F6465E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27464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70C95BBB-511F-F8F5-EF37-C6109C4AF4E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44880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0EDAC9C-0C6E-2807-24D5-3E04B5E2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84738" y="4399153"/>
            <a:ext cx="685800" cy="685800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Picture Placeholder 13">
            <a:extLst>
              <a:ext uri="{FF2B5EF4-FFF2-40B4-BE49-F238E27FC236}">
                <a16:creationId xmlns:a16="http://schemas.microsoft.com/office/drawing/2014/main" id="{B1C0F0FD-844D-CC54-986F-B8522F12B0A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0599038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A00816D8-6779-7BDB-52AB-5BD0A2479E4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44880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6506AFF-E40E-308E-7907-FBFC4DAAB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524879" y="5376344"/>
            <a:ext cx="1828635" cy="3053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6"/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A11DE-725C-8DE4-9A24-3718A3D14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560" y="6072886"/>
            <a:ext cx="4114800" cy="365125"/>
          </a:xfrm>
          <a:prstGeom prst="rect">
            <a:avLst/>
          </a:prstGeom>
        </p:spPr>
        <p:txBody>
          <a:bodyPr/>
          <a:lstStyle>
            <a:lvl1pPr algn="l">
              <a:defRPr sz="1000" cap="all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D8153-A9C6-7A32-CDB7-BF9D7CB1A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8616" y="60728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243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B3CF9-F6C1-EAC2-6ED5-F21274EDA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804" y="365125"/>
            <a:ext cx="10887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84AFB-9D3B-E902-0E64-B953D0E5C9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804" y="1825625"/>
            <a:ext cx="10887012" cy="4113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4D8918F-6808-DDE5-4A7C-495DAC248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0560" y="6072886"/>
            <a:ext cx="4114800" cy="365125"/>
          </a:xfrm>
          <a:prstGeom prst="rect">
            <a:avLst/>
          </a:prstGeom>
        </p:spPr>
        <p:txBody>
          <a:bodyPr/>
          <a:lstStyle>
            <a:lvl1pPr algn="l">
              <a:defRPr sz="1000" cap="all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2BAE7F7-F858-A80B-8F72-EFA0C33C10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8616" y="6072886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7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2FCCB-C668-E375-745A-4092D4DA7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75" y="-418838"/>
            <a:ext cx="12063593" cy="1097915"/>
          </a:xfrm>
        </p:spPr>
        <p:txBody>
          <a:bodyPr>
            <a:normAutofit/>
          </a:bodyPr>
          <a:lstStyle/>
          <a:p>
            <a:r>
              <a:rPr lang="en-US" sz="3000" dirty="0"/>
              <a:t>Can Track Sequencers be Relevant in Modern Game Development?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15DBE-C581-DF12-8B02-1BB4FA99B9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4753" y="737612"/>
            <a:ext cx="9064752" cy="511175"/>
          </a:xfrm>
        </p:spPr>
        <p:txBody>
          <a:bodyPr/>
          <a:lstStyle/>
          <a:p>
            <a:r>
              <a:rPr lang="en-US" dirty="0"/>
              <a:t>Adrienne Moullec - University of Gloucestershire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F51EFE-C206-4E9F-1ECA-69B8E804771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18434" y="1287121"/>
            <a:ext cx="2721668" cy="38119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04798AF-C115-FD01-660C-FACB9324AE6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8434" y="1690647"/>
            <a:ext cx="3364992" cy="1548055"/>
          </a:xfrm>
        </p:spPr>
        <p:txBody>
          <a:bodyPr/>
          <a:lstStyle/>
          <a:p>
            <a:r>
              <a:rPr lang="en-US" sz="900" dirty="0"/>
              <a:t>Music track sequencing was used in older game consoles where storage space and audio capabilities were limited. Music used to be a list of text commands that played preset instrumental tones. Audio has since been upgraded to pre-recorded tracks, creating greater immersive experiences.</a:t>
            </a:r>
          </a:p>
          <a:p>
            <a:r>
              <a:rPr lang="en-US" sz="900" dirty="0"/>
              <a:t>This research dives into the history of music in gaming and explores the question “Can track sequencers be relevant in modern game development?”.</a:t>
            </a:r>
          </a:p>
          <a:p>
            <a:endParaRPr lang="en-US" sz="900" dirty="0"/>
          </a:p>
        </p:txBody>
      </p:sp>
      <p:pic>
        <p:nvPicPr>
          <p:cNvPr id="216" name="Picture Placeholder 215" descr="Game controller outline">
            <a:extLst>
              <a:ext uri="{FF2B5EF4-FFF2-40B4-BE49-F238E27FC236}">
                <a16:creationId xmlns:a16="http://schemas.microsoft.com/office/drawing/2014/main" id="{77F5520F-24C4-6968-9481-7307959BD532}"/>
              </a:ext>
            </a:extLst>
          </p:cNvPr>
          <p:cNvPicPr>
            <a:picLocks noGrp="1" noChangeAspect="1"/>
          </p:cNvPicPr>
          <p:nvPr>
            <p:ph type="pic" sz="quarter" idx="35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1306" y="2798093"/>
            <a:ext cx="457200" cy="457200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392FED6-AAD8-5F8E-79B4-DF24A78237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97508" y="3184551"/>
            <a:ext cx="1996440" cy="381190"/>
          </a:xfrm>
        </p:spPr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43309AC-45B9-55D7-27D2-36A3565F37F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627988" y="3582332"/>
            <a:ext cx="2817876" cy="1444170"/>
          </a:xfrm>
        </p:spPr>
        <p:txBody>
          <a:bodyPr/>
          <a:lstStyle/>
          <a:p>
            <a:pPr fontAlgn="base"/>
            <a:r>
              <a:rPr lang="en-GB" sz="900" dirty="0"/>
              <a:t>Demonstrate the potential of legacy music playback formats in modern systems. </a:t>
            </a:r>
          </a:p>
          <a:p>
            <a:pPr fontAlgn="base"/>
            <a:r>
              <a:rPr lang="en-GB" sz="900" dirty="0"/>
              <a:t>Allow quick prototype or full music production for a game engine user. </a:t>
            </a:r>
          </a:p>
          <a:p>
            <a:pPr fontAlgn="base"/>
            <a:r>
              <a:rPr lang="en-GB" sz="900" dirty="0"/>
              <a:t>Removes barrier between level design/gameplay programming and music creation for events and sections in a level. </a:t>
            </a:r>
          </a:p>
          <a:p>
            <a:pPr fontAlgn="base"/>
            <a:r>
              <a:rPr lang="en-GB" sz="900" dirty="0"/>
              <a:t>Allow for future modification of tracks due to the text-command style of music files. (Transformative/Generative music). </a:t>
            </a:r>
          </a:p>
        </p:txBody>
      </p:sp>
      <p:pic>
        <p:nvPicPr>
          <p:cNvPr id="248" name="Picture Placeholder 247" descr="Notebook">
            <a:extLst>
              <a:ext uri="{FF2B5EF4-FFF2-40B4-BE49-F238E27FC236}">
                <a16:creationId xmlns:a16="http://schemas.microsoft.com/office/drawing/2014/main" id="{80BB589F-B280-8794-B12E-C4B4F9F40D8F}"/>
              </a:ext>
            </a:extLst>
          </p:cNvPr>
          <p:cNvPicPr>
            <a:picLocks noGrp="1" noChangeAspect="1"/>
          </p:cNvPicPr>
          <p:nvPr>
            <p:ph type="pic" sz="quarter" idx="36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20" b="1020"/>
          <a:stretch/>
        </p:blipFill>
        <p:spPr>
          <a:xfrm>
            <a:off x="6445864" y="4790688"/>
            <a:ext cx="457200" cy="457200"/>
          </a:xfr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718A59-7FF0-150D-65DA-7E2BCFAC70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46739" y="4668396"/>
            <a:ext cx="2587752" cy="381190"/>
          </a:xfrm>
        </p:spPr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AD98222-E384-9A18-1F02-89CAC7CC3BB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56644" y="5099831"/>
            <a:ext cx="3592395" cy="1548055"/>
          </a:xfrm>
        </p:spPr>
        <p:txBody>
          <a:bodyPr/>
          <a:lstStyle/>
          <a:p>
            <a:pPr fontAlgn="base"/>
            <a:r>
              <a:rPr lang="en-GB" sz="900" dirty="0"/>
              <a:t>SF2 file playback in Miniaudio &amp; </a:t>
            </a:r>
            <a:r>
              <a:rPr lang="en-GB" sz="900" dirty="0" err="1"/>
              <a:t>TinySoundFont</a:t>
            </a:r>
            <a:r>
              <a:rPr lang="en-GB" sz="900" dirty="0"/>
              <a:t> in C. </a:t>
            </a:r>
          </a:p>
          <a:p>
            <a:pPr fontAlgn="base"/>
            <a:r>
              <a:rPr lang="en-GB" sz="900" dirty="0"/>
              <a:t>Unity interpreter as an example of game engine usage. </a:t>
            </a:r>
          </a:p>
          <a:p>
            <a:pPr fontAlgn="base"/>
            <a:r>
              <a:rPr lang="en-GB" sz="900" dirty="0"/>
              <a:t>Allow ‘testers’ to play a level/audio sample with music to test the authenticity and immersion of gameplay. </a:t>
            </a:r>
          </a:p>
          <a:p>
            <a:pPr fontAlgn="base"/>
            <a:r>
              <a:rPr lang="en-GB" sz="900" dirty="0"/>
              <a:t>Testers will take a questionnaire about how they felt during certain parts of the gameplay and their emotions. (mention qualitive data</a:t>
            </a:r>
            <a:r>
              <a:rPr lang="en-GB" dirty="0"/>
              <a:t>?) </a:t>
            </a:r>
          </a:p>
        </p:txBody>
      </p:sp>
      <p:pic>
        <p:nvPicPr>
          <p:cNvPr id="250" name="Picture Placeholder 249" descr="Notebook Cover Icon">
            <a:extLst>
              <a:ext uri="{FF2B5EF4-FFF2-40B4-BE49-F238E27FC236}">
                <a16:creationId xmlns:a16="http://schemas.microsoft.com/office/drawing/2014/main" id="{F527D6BB-A9B3-378E-8050-7344D01546AF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020" r="1020"/>
          <a:stretch/>
        </p:blipFill>
        <p:spPr>
          <a:xfrm>
            <a:off x="1541923" y="6234089"/>
            <a:ext cx="457200" cy="457200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A668396-55B1-62F2-1540-284A767D707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326147" y="1148466"/>
            <a:ext cx="1996440" cy="38119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A796CA2-AD43-6CE8-757E-437D60714D2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351353" y="1672771"/>
            <a:ext cx="1996440" cy="778652"/>
          </a:xfrm>
        </p:spPr>
        <p:txBody>
          <a:bodyPr/>
          <a:lstStyle/>
          <a:p>
            <a:r>
              <a:rPr lang="en-US" dirty="0"/>
              <a:t>Table/form information here</a:t>
            </a:r>
          </a:p>
        </p:txBody>
      </p:sp>
      <p:pic>
        <p:nvPicPr>
          <p:cNvPr id="252" name="Picture Placeholder 251" descr="Control Icon">
            <a:extLst>
              <a:ext uri="{FF2B5EF4-FFF2-40B4-BE49-F238E27FC236}">
                <a16:creationId xmlns:a16="http://schemas.microsoft.com/office/drawing/2014/main" id="{1F80EB59-7B2B-552F-D090-B761060668A6}"/>
              </a:ext>
            </a:extLst>
          </p:cNvPr>
          <p:cNvPicPr>
            <a:picLocks noGrp="1" noChangeAspect="1"/>
          </p:cNvPicPr>
          <p:nvPr>
            <p:ph type="pic" sz="quarter" idx="38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599962" y="1966808"/>
            <a:ext cx="457200" cy="457200"/>
          </a:xfr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443785B-1A6D-E1D6-6E52-FE4E67D01D2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2794" y="4477802"/>
            <a:ext cx="2656332" cy="381190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4478444-AE6E-47B8-62DC-D7A1402293D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38816" y="4858991"/>
            <a:ext cx="3099286" cy="1079489"/>
          </a:xfrm>
        </p:spPr>
        <p:txBody>
          <a:bodyPr/>
          <a:lstStyle/>
          <a:p>
            <a:r>
              <a:rPr lang="en-US" sz="900" dirty="0">
                <a:solidFill>
                  <a:srgbClr val="FF0000"/>
                </a:solidFill>
              </a:rPr>
              <a:t>Something here about how people responded to the tool/audio samples I created.</a:t>
            </a:r>
          </a:p>
          <a:p>
            <a:r>
              <a:rPr lang="en-US" sz="900" dirty="0"/>
              <a:t>Requires more testers and musical creators to test the limits of sf2 file playback.</a:t>
            </a:r>
          </a:p>
          <a:p>
            <a:r>
              <a:rPr lang="en-US" sz="900" dirty="0"/>
              <a:t>Future potential for greater sound samples or tool improvement.</a:t>
            </a:r>
          </a:p>
          <a:p>
            <a:r>
              <a:rPr lang="en-US" sz="900" dirty="0">
                <a:solidFill>
                  <a:srgbClr val="FF0000"/>
                </a:solidFill>
              </a:rPr>
              <a:t>Mention things I didn’t get to do.</a:t>
            </a:r>
          </a:p>
        </p:txBody>
      </p:sp>
      <p:pic>
        <p:nvPicPr>
          <p:cNvPr id="254" name="Picture Placeholder 253" descr="Door opening icon">
            <a:extLst>
              <a:ext uri="{FF2B5EF4-FFF2-40B4-BE49-F238E27FC236}">
                <a16:creationId xmlns:a16="http://schemas.microsoft.com/office/drawing/2014/main" id="{745667E5-35F8-39AC-E268-62AE0F238D43}"/>
              </a:ext>
            </a:extLst>
          </p:cNvPr>
          <p:cNvPicPr>
            <a:picLocks noGrp="1" noChangeAspect="1"/>
          </p:cNvPicPr>
          <p:nvPr>
            <p:ph type="pic" sz="quarter" idx="39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254368" y="6134627"/>
            <a:ext cx="457200" cy="457200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41F7D99-95D6-3DC3-0374-0DE532900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34059" y="613251"/>
            <a:ext cx="11312652" cy="21533"/>
          </a:xfrm>
          <a:prstGeom prst="line">
            <a:avLst/>
          </a:prstGeom>
          <a:ln w="28575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Placeholder 33" descr="Harvey Balls 100% outline">
            <a:extLst>
              <a:ext uri="{FF2B5EF4-FFF2-40B4-BE49-F238E27FC236}">
                <a16:creationId xmlns:a16="http://schemas.microsoft.com/office/drawing/2014/main" id="{9389C35E-CB35-9695-83FB-56EB11B0656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0485434" y="767635"/>
            <a:ext cx="1524363" cy="1524363"/>
          </a:xfrm>
        </p:spPr>
      </p:pic>
      <p:pic>
        <p:nvPicPr>
          <p:cNvPr id="37" name="Picture Placeholder 33" descr="Music notation with solid fill">
            <a:extLst>
              <a:ext uri="{FF2B5EF4-FFF2-40B4-BE49-F238E27FC236}">
                <a16:creationId xmlns:a16="http://schemas.microsoft.com/office/drawing/2014/main" id="{D5F5E0E8-7F9D-1052-4DB0-3C9EB2B06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-908906" y="-2611848"/>
            <a:ext cx="727809" cy="12510591"/>
          </a:xfrm>
          <a:prstGeom prst="ellipse">
            <a:avLst/>
          </a:prstGeom>
          <a:ln w="22225">
            <a:noFill/>
          </a:ln>
        </p:spPr>
      </p:pic>
      <p:pic>
        <p:nvPicPr>
          <p:cNvPr id="38" name="Picture Placeholder 33" descr="Harvey Balls 0% with solid fill">
            <a:extLst>
              <a:ext uri="{FF2B5EF4-FFF2-40B4-BE49-F238E27FC236}">
                <a16:creationId xmlns:a16="http://schemas.microsoft.com/office/drawing/2014/main" id="{FE7CF5C5-05D7-5829-85F6-0D447310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899648" y="5843968"/>
            <a:ext cx="822960" cy="822960"/>
          </a:xfrm>
          <a:prstGeom prst="ellipse">
            <a:avLst/>
          </a:prstGeom>
          <a:ln w="22225">
            <a:noFill/>
          </a:ln>
        </p:spPr>
      </p:pic>
      <p:pic>
        <p:nvPicPr>
          <p:cNvPr id="60" name="Picture Placeholder 33" descr="Music note with solid fill">
            <a:extLst>
              <a:ext uri="{FF2B5EF4-FFF2-40B4-BE49-F238E27FC236}">
                <a16:creationId xmlns:a16="http://schemas.microsoft.com/office/drawing/2014/main" id="{19C70016-CA91-A324-6556-3E43A969D5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1420736" y="1222491"/>
            <a:ext cx="324926" cy="324926"/>
          </a:xfrm>
          <a:prstGeom prst="ellipse">
            <a:avLst/>
          </a:prstGeom>
          <a:ln w="22225">
            <a:noFill/>
          </a:ln>
        </p:spPr>
      </p:pic>
      <p:pic>
        <p:nvPicPr>
          <p:cNvPr id="61" name="Picture Placeholder 33" descr="Music notes with solid fill">
            <a:extLst>
              <a:ext uri="{FF2B5EF4-FFF2-40B4-BE49-F238E27FC236}">
                <a16:creationId xmlns:a16="http://schemas.microsoft.com/office/drawing/2014/main" id="{CD72E53F-305F-3E70-77AF-8ED3E1F1FF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t="96" b="96"/>
          <a:stretch>
            <a:fillRect/>
          </a:stretch>
        </p:blipFill>
        <p:spPr>
          <a:xfrm>
            <a:off x="10751095" y="1121331"/>
            <a:ext cx="822960" cy="822960"/>
          </a:xfrm>
          <a:prstGeom prst="ellipse">
            <a:avLst/>
          </a:prstGeom>
          <a:ln w="22225">
            <a:noFill/>
          </a:ln>
        </p:spPr>
      </p:pic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340B8317-E353-6339-47FD-6256E22A8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44146" y="1602448"/>
            <a:ext cx="2424684" cy="0"/>
          </a:xfrm>
          <a:prstGeom prst="line">
            <a:avLst/>
          </a:prstGeom>
          <a:ln w="28575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00485201-EBCD-3B17-CFB3-F3E6C6091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661521" y="3492411"/>
            <a:ext cx="2006589" cy="0"/>
          </a:xfrm>
          <a:prstGeom prst="line">
            <a:avLst/>
          </a:prstGeom>
          <a:ln w="28575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477D483A-1F7C-6EE9-5C3F-35F880115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14753" y="4958435"/>
            <a:ext cx="2328476" cy="0"/>
          </a:xfrm>
          <a:prstGeom prst="line">
            <a:avLst/>
          </a:prstGeom>
          <a:ln w="28575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E0381664-FDE6-1C61-B792-B04EF1F06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15361" y="1467713"/>
            <a:ext cx="1677610" cy="0"/>
          </a:xfrm>
          <a:prstGeom prst="line">
            <a:avLst/>
          </a:prstGeom>
          <a:ln w="28575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774EA625-3F51-B2CE-1BAD-BD842A45F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175915" y="4774482"/>
            <a:ext cx="2115155" cy="0"/>
          </a:xfrm>
          <a:prstGeom prst="line">
            <a:avLst/>
          </a:prstGeom>
          <a:ln w="28575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1" name="Picture Placeholder 33" descr="Question mark with solid fill">
            <a:extLst>
              <a:ext uri="{FF2B5EF4-FFF2-40B4-BE49-F238E27FC236}">
                <a16:creationId xmlns:a16="http://schemas.microsoft.com/office/drawing/2014/main" id="{DD83DCFC-C0FE-2E61-1458-006EEE9338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902519" y="2957481"/>
            <a:ext cx="1520321" cy="1520321"/>
          </a:xfrm>
          <a:prstGeom prst="ellipse">
            <a:avLst/>
          </a:prstGeom>
          <a:ln w="22225">
            <a:noFill/>
          </a:ln>
        </p:spPr>
      </p:pic>
      <p:pic>
        <p:nvPicPr>
          <p:cNvPr id="462" name="Picture Placeholder 33" descr="Question mark with solid fill">
            <a:extLst>
              <a:ext uri="{FF2B5EF4-FFF2-40B4-BE49-F238E27FC236}">
                <a16:creationId xmlns:a16="http://schemas.microsoft.com/office/drawing/2014/main" id="{FD98C290-CD08-D4C8-C929-10AFCAE392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4607871" y="1235696"/>
            <a:ext cx="1520321" cy="1520321"/>
          </a:xfrm>
          <a:prstGeom prst="ellipse">
            <a:avLst/>
          </a:prstGeom>
          <a:ln w="22225">
            <a:noFill/>
          </a:ln>
        </p:spPr>
      </p:pic>
      <p:pic>
        <p:nvPicPr>
          <p:cNvPr id="463" name="Picture Placeholder 33" descr="Question mark with solid fill">
            <a:extLst>
              <a:ext uri="{FF2B5EF4-FFF2-40B4-BE49-F238E27FC236}">
                <a16:creationId xmlns:a16="http://schemas.microsoft.com/office/drawing/2014/main" id="{627744F8-D50D-AA72-F5E3-C00E4FC17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4449951" y="5071506"/>
            <a:ext cx="1520321" cy="1520321"/>
          </a:xfrm>
          <a:prstGeom prst="ellipse">
            <a:avLst/>
          </a:prstGeom>
          <a:ln w="22225">
            <a:noFill/>
          </a:ln>
        </p:spPr>
      </p:pic>
      <p:pic>
        <p:nvPicPr>
          <p:cNvPr id="464" name="Picture Placeholder 33" descr="Question mark with solid fill">
            <a:extLst>
              <a:ext uri="{FF2B5EF4-FFF2-40B4-BE49-F238E27FC236}">
                <a16:creationId xmlns:a16="http://schemas.microsoft.com/office/drawing/2014/main" id="{09211515-5B3C-0F2A-AC32-B033439D4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8650799" y="1944291"/>
            <a:ext cx="1520321" cy="1520321"/>
          </a:xfrm>
          <a:prstGeom prst="ellipse">
            <a:avLst/>
          </a:prstGeom>
          <a:ln w="22225">
            <a:noFill/>
          </a:ln>
        </p:spPr>
      </p:pic>
    </p:spTree>
    <p:extLst>
      <p:ext uri="{BB962C8B-B14F-4D97-AF65-F5344CB8AC3E}">
        <p14:creationId xmlns:p14="http://schemas.microsoft.com/office/powerpoint/2010/main" val="2669003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itle 133">
            <a:extLst>
              <a:ext uri="{FF2B5EF4-FFF2-40B4-BE49-F238E27FC236}">
                <a16:creationId xmlns:a16="http://schemas.microsoft.com/office/drawing/2014/main" id="{2DEC2AB0-AD5D-23DE-B7FB-17CD20BB3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744" y="209677"/>
            <a:ext cx="9064752" cy="1097915"/>
          </a:xfrm>
        </p:spPr>
        <p:txBody>
          <a:bodyPr/>
          <a:lstStyle/>
          <a:p>
            <a:r>
              <a:rPr lang="en-US" dirty="0"/>
              <a:t>Project timeline  </a:t>
            </a:r>
          </a:p>
        </p:txBody>
      </p:sp>
      <p:sp>
        <p:nvSpPr>
          <p:cNvPr id="135" name="Text Placeholder 134">
            <a:extLst>
              <a:ext uri="{FF2B5EF4-FFF2-40B4-BE49-F238E27FC236}">
                <a16:creationId xmlns:a16="http://schemas.microsoft.com/office/drawing/2014/main" id="{24F33FBC-ED8B-5877-6570-004051152F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5" y="1344676"/>
            <a:ext cx="9064752" cy="511175"/>
          </a:xfrm>
        </p:spPr>
        <p:txBody>
          <a:bodyPr/>
          <a:lstStyle/>
          <a:p>
            <a:r>
              <a:rPr lang="en-US" dirty="0"/>
              <a:t>At-a-glance</a:t>
            </a:r>
          </a:p>
        </p:txBody>
      </p:sp>
      <p:pic>
        <p:nvPicPr>
          <p:cNvPr id="30" name="Picture Placeholder 157" descr="Cloud Icon">
            <a:extLst>
              <a:ext uri="{FF2B5EF4-FFF2-40B4-BE49-F238E27FC236}">
                <a16:creationId xmlns:a16="http://schemas.microsoft.com/office/drawing/2014/main" id="{413EA097-7B19-8BB7-BCF4-6FC6A0DDC32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6" b="96"/>
          <a:stretch/>
        </p:blipFill>
        <p:spPr>
          <a:xfrm>
            <a:off x="10487786" y="649342"/>
            <a:ext cx="822960" cy="822960"/>
          </a:xfrm>
        </p:spPr>
      </p:pic>
      <p:sp>
        <p:nvSpPr>
          <p:cNvPr id="136" name="Text Placeholder 135">
            <a:extLst>
              <a:ext uri="{FF2B5EF4-FFF2-40B4-BE49-F238E27FC236}">
                <a16:creationId xmlns:a16="http://schemas.microsoft.com/office/drawing/2014/main" id="{9DAC9834-0E75-E542-2370-0FDBC1CC55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3608" y="2556796"/>
            <a:ext cx="1996440" cy="381190"/>
          </a:xfrm>
        </p:spPr>
        <p:txBody>
          <a:bodyPr/>
          <a:lstStyle/>
          <a:p>
            <a:r>
              <a:rPr lang="en-US" dirty="0"/>
              <a:t>Initiation</a:t>
            </a:r>
          </a:p>
        </p:txBody>
      </p:sp>
      <p:sp>
        <p:nvSpPr>
          <p:cNvPr id="141" name="Text Placeholder 140">
            <a:extLst>
              <a:ext uri="{FF2B5EF4-FFF2-40B4-BE49-F238E27FC236}">
                <a16:creationId xmlns:a16="http://schemas.microsoft.com/office/drawing/2014/main" id="{3AB5C4FD-1C4E-72A5-479C-56B52402F1F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3608" y="3391012"/>
            <a:ext cx="1996440" cy="778652"/>
          </a:xfrm>
        </p:spPr>
        <p:txBody>
          <a:bodyPr/>
          <a:lstStyle/>
          <a:p>
            <a:r>
              <a:rPr lang="en-US" dirty="0"/>
              <a:t>Defining the project scope, objectives, and deliverables.</a:t>
            </a:r>
          </a:p>
        </p:txBody>
      </p:sp>
      <p:sp>
        <p:nvSpPr>
          <p:cNvPr id="146" name="Text Placeholder 145">
            <a:extLst>
              <a:ext uri="{FF2B5EF4-FFF2-40B4-BE49-F238E27FC236}">
                <a16:creationId xmlns:a16="http://schemas.microsoft.com/office/drawing/2014/main" id="{F2A039BC-EA78-7EE5-5BCD-6445C12EFA5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0560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90" name="Picture Placeholder 89" descr="3d Glasses outline">
            <a:extLst>
              <a:ext uri="{FF2B5EF4-FFF2-40B4-BE49-F238E27FC236}">
                <a16:creationId xmlns:a16="http://schemas.microsoft.com/office/drawing/2014/main" id="{A9898713-8A99-08D7-637C-53C4E2404ADF}"/>
              </a:ext>
            </a:extLst>
          </p:cNvPr>
          <p:cNvPicPr>
            <a:picLocks noGrp="1" noChangeAspect="1"/>
          </p:cNvPicPr>
          <p:nvPr>
            <p:ph type="pic" sz="quarter" idx="35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96796" y="4513453"/>
            <a:ext cx="457200" cy="457200"/>
          </a:xfrm>
        </p:spPr>
      </p:pic>
      <p:sp>
        <p:nvSpPr>
          <p:cNvPr id="147" name="Text Placeholder 146">
            <a:extLst>
              <a:ext uri="{FF2B5EF4-FFF2-40B4-BE49-F238E27FC236}">
                <a16:creationId xmlns:a16="http://schemas.microsoft.com/office/drawing/2014/main" id="{063DDA4C-AD55-B53D-8A28-95C0BBBBA27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0560" y="4894756"/>
            <a:ext cx="893064" cy="335470"/>
          </a:xfrm>
        </p:spPr>
        <p:txBody>
          <a:bodyPr/>
          <a:lstStyle/>
          <a:p>
            <a:r>
              <a:rPr lang="en-US" dirty="0"/>
              <a:t>Jan</a:t>
            </a:r>
          </a:p>
        </p:txBody>
      </p:sp>
      <p:sp>
        <p:nvSpPr>
          <p:cNvPr id="137" name="Text Placeholder 136">
            <a:extLst>
              <a:ext uri="{FF2B5EF4-FFF2-40B4-BE49-F238E27FC236}">
                <a16:creationId xmlns:a16="http://schemas.microsoft.com/office/drawing/2014/main" id="{7574CEC2-3920-9E1F-1DC2-7551B8D281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62072" y="2556796"/>
            <a:ext cx="1996440" cy="381190"/>
          </a:xfrm>
        </p:spPr>
        <p:txBody>
          <a:bodyPr/>
          <a:lstStyle/>
          <a:p>
            <a:r>
              <a:rPr lang="en-US" dirty="0"/>
              <a:t>Planning</a:t>
            </a:r>
          </a:p>
        </p:txBody>
      </p:sp>
      <p:sp>
        <p:nvSpPr>
          <p:cNvPr id="142" name="Text Placeholder 141">
            <a:extLst>
              <a:ext uri="{FF2B5EF4-FFF2-40B4-BE49-F238E27FC236}">
                <a16:creationId xmlns:a16="http://schemas.microsoft.com/office/drawing/2014/main" id="{C759D89D-5722-47C0-8606-D901DEFAA89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62072" y="3391012"/>
            <a:ext cx="1996440" cy="778652"/>
          </a:xfrm>
        </p:spPr>
        <p:txBody>
          <a:bodyPr/>
          <a:lstStyle/>
          <a:p>
            <a:r>
              <a:rPr lang="en-US" dirty="0"/>
              <a:t>Detailed project plans created, including development of work breakdown structure.</a:t>
            </a:r>
          </a:p>
        </p:txBody>
      </p:sp>
      <p:sp>
        <p:nvSpPr>
          <p:cNvPr id="148" name="Text Placeholder 147">
            <a:extLst>
              <a:ext uri="{FF2B5EF4-FFF2-40B4-BE49-F238E27FC236}">
                <a16:creationId xmlns:a16="http://schemas.microsoft.com/office/drawing/2014/main" id="{91D5A8AA-0B24-DA3A-3D0F-D626603B9AA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2072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19" name="Picture Placeholder 118" descr="Blueprint outline">
            <a:extLst>
              <a:ext uri="{FF2B5EF4-FFF2-40B4-BE49-F238E27FC236}">
                <a16:creationId xmlns:a16="http://schemas.microsoft.com/office/drawing/2014/main" id="{A934FCB9-7C01-1298-196C-DA9C13B08FAA}"/>
              </a:ext>
            </a:extLst>
          </p:cNvPr>
          <p:cNvPicPr>
            <a:picLocks noGrp="1" noChangeAspect="1"/>
          </p:cNvPicPr>
          <p:nvPr>
            <p:ph type="pic" sz="quarter" idx="36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002024" y="4513453"/>
            <a:ext cx="457200" cy="457200"/>
          </a:xfrm>
        </p:spPr>
      </p:pic>
      <p:sp>
        <p:nvSpPr>
          <p:cNvPr id="149" name="Text Placeholder 148">
            <a:extLst>
              <a:ext uri="{FF2B5EF4-FFF2-40B4-BE49-F238E27FC236}">
                <a16:creationId xmlns:a16="http://schemas.microsoft.com/office/drawing/2014/main" id="{D2CCFB70-D3C5-F09B-94B6-4FABA14941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862072" y="4894756"/>
            <a:ext cx="893064" cy="335470"/>
          </a:xfrm>
        </p:spPr>
        <p:txBody>
          <a:bodyPr/>
          <a:lstStyle/>
          <a:p>
            <a:r>
              <a:rPr lang="en-US" dirty="0"/>
              <a:t>Feb</a:t>
            </a:r>
          </a:p>
        </p:txBody>
      </p:sp>
      <p:sp>
        <p:nvSpPr>
          <p:cNvPr id="138" name="Text Placeholder 137">
            <a:extLst>
              <a:ext uri="{FF2B5EF4-FFF2-40B4-BE49-F238E27FC236}">
                <a16:creationId xmlns:a16="http://schemas.microsoft.com/office/drawing/2014/main" id="{BEC632B1-B9E6-3EE9-91AC-C47F5219FE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0536" y="2556796"/>
            <a:ext cx="1996440" cy="381190"/>
          </a:xfrm>
        </p:spPr>
        <p:txBody>
          <a:bodyPr/>
          <a:lstStyle/>
          <a:p>
            <a:r>
              <a:rPr lang="en-US" dirty="0"/>
              <a:t>Execution</a:t>
            </a:r>
          </a:p>
        </p:txBody>
      </p:sp>
      <p:sp>
        <p:nvSpPr>
          <p:cNvPr id="143" name="Text Placeholder 142">
            <a:extLst>
              <a:ext uri="{FF2B5EF4-FFF2-40B4-BE49-F238E27FC236}">
                <a16:creationId xmlns:a16="http://schemas.microsoft.com/office/drawing/2014/main" id="{CAC3E407-C96F-DE57-9910-64CBADB8436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050536" y="3391012"/>
            <a:ext cx="1996440" cy="778652"/>
          </a:xfrm>
        </p:spPr>
        <p:txBody>
          <a:bodyPr/>
          <a:lstStyle/>
          <a:p>
            <a:r>
              <a:rPr lang="en-US" dirty="0"/>
              <a:t>Project tasks are performed, and the project plan is put into action.</a:t>
            </a:r>
          </a:p>
        </p:txBody>
      </p:sp>
      <p:sp>
        <p:nvSpPr>
          <p:cNvPr id="150" name="Text Placeholder 149">
            <a:extLst>
              <a:ext uri="{FF2B5EF4-FFF2-40B4-BE49-F238E27FC236}">
                <a16:creationId xmlns:a16="http://schemas.microsoft.com/office/drawing/2014/main" id="{B65663B2-F5C5-DC40-A432-3D454509513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65776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20" name="Picture Placeholder 119" descr="Playbook outline">
            <a:extLst>
              <a:ext uri="{FF2B5EF4-FFF2-40B4-BE49-F238E27FC236}">
                <a16:creationId xmlns:a16="http://schemas.microsoft.com/office/drawing/2014/main" id="{AC7FDD67-FD6B-557E-102B-1F5EB87B3FD0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207252" y="4517172"/>
            <a:ext cx="457200" cy="457200"/>
          </a:xfrm>
        </p:spPr>
      </p:pic>
      <p:sp>
        <p:nvSpPr>
          <p:cNvPr id="151" name="Text Placeholder 150">
            <a:extLst>
              <a:ext uri="{FF2B5EF4-FFF2-40B4-BE49-F238E27FC236}">
                <a16:creationId xmlns:a16="http://schemas.microsoft.com/office/drawing/2014/main" id="{C9A94E6D-A15E-3826-0843-D88B2080923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065776" y="4894756"/>
            <a:ext cx="893064" cy="335470"/>
          </a:xfrm>
        </p:spPr>
        <p:txBody>
          <a:bodyPr/>
          <a:lstStyle/>
          <a:p>
            <a:r>
              <a:rPr lang="en-US" dirty="0"/>
              <a:t>Mar</a:t>
            </a:r>
          </a:p>
        </p:txBody>
      </p:sp>
      <p:sp>
        <p:nvSpPr>
          <p:cNvPr id="139" name="Text Placeholder 138">
            <a:extLst>
              <a:ext uri="{FF2B5EF4-FFF2-40B4-BE49-F238E27FC236}">
                <a16:creationId xmlns:a16="http://schemas.microsoft.com/office/drawing/2014/main" id="{A1232BD9-9CC5-ECC6-760C-C0CE0122947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39000" y="2556796"/>
            <a:ext cx="1996440" cy="381190"/>
          </a:xfrm>
        </p:spPr>
        <p:txBody>
          <a:bodyPr/>
          <a:lstStyle/>
          <a:p>
            <a:r>
              <a:rPr lang="en-US" dirty="0"/>
              <a:t>Control</a:t>
            </a:r>
          </a:p>
        </p:txBody>
      </p:sp>
      <p:sp>
        <p:nvSpPr>
          <p:cNvPr id="144" name="Text Placeholder 143">
            <a:extLst>
              <a:ext uri="{FF2B5EF4-FFF2-40B4-BE49-F238E27FC236}">
                <a16:creationId xmlns:a16="http://schemas.microsoft.com/office/drawing/2014/main" id="{CEAEE197-84A9-7E49-AC95-96B3645EA8C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39000" y="3391012"/>
            <a:ext cx="1996440" cy="778652"/>
          </a:xfrm>
        </p:spPr>
        <p:txBody>
          <a:bodyPr/>
          <a:lstStyle/>
          <a:p>
            <a:r>
              <a:rPr lang="en-US" dirty="0"/>
              <a:t>Progress is monitored, and any deviations from the plan are identified and addressed.</a:t>
            </a:r>
          </a:p>
        </p:txBody>
      </p:sp>
      <p:sp>
        <p:nvSpPr>
          <p:cNvPr id="152" name="Text Placeholder 151">
            <a:extLst>
              <a:ext uri="{FF2B5EF4-FFF2-40B4-BE49-F238E27FC236}">
                <a16:creationId xmlns:a16="http://schemas.microsoft.com/office/drawing/2014/main" id="{A60F538F-FE8B-37AC-23F8-0921E8BA77F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257288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21" name="Picture Placeholder 120" descr="Continuous Improvement outline">
            <a:extLst>
              <a:ext uri="{FF2B5EF4-FFF2-40B4-BE49-F238E27FC236}">
                <a16:creationId xmlns:a16="http://schemas.microsoft.com/office/drawing/2014/main" id="{ECE2A6B8-4CDC-FC62-4720-88375F6083D2}"/>
              </a:ext>
            </a:extLst>
          </p:cNvPr>
          <p:cNvPicPr>
            <a:picLocks noGrp="1" noChangeAspect="1"/>
          </p:cNvPicPr>
          <p:nvPr>
            <p:ph type="pic" sz="quarter" idx="38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12480" y="4517172"/>
            <a:ext cx="457200" cy="457200"/>
          </a:xfrm>
        </p:spPr>
      </p:pic>
      <p:sp>
        <p:nvSpPr>
          <p:cNvPr id="153" name="Text Placeholder 152">
            <a:extLst>
              <a:ext uri="{FF2B5EF4-FFF2-40B4-BE49-F238E27FC236}">
                <a16:creationId xmlns:a16="http://schemas.microsoft.com/office/drawing/2014/main" id="{2E64157C-14E1-D827-6C8B-B2C68325511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257288" y="4894756"/>
            <a:ext cx="893064" cy="335470"/>
          </a:xfrm>
        </p:spPr>
        <p:txBody>
          <a:bodyPr/>
          <a:lstStyle/>
          <a:p>
            <a:r>
              <a:rPr lang="en-US" dirty="0"/>
              <a:t>Apr</a:t>
            </a:r>
          </a:p>
        </p:txBody>
      </p:sp>
      <p:sp>
        <p:nvSpPr>
          <p:cNvPr id="140" name="Text Placeholder 139">
            <a:extLst>
              <a:ext uri="{FF2B5EF4-FFF2-40B4-BE49-F238E27FC236}">
                <a16:creationId xmlns:a16="http://schemas.microsoft.com/office/drawing/2014/main" id="{F744DCC4-E9B7-1CE6-4798-D32E323FD0C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7464" y="2556796"/>
            <a:ext cx="1996440" cy="381190"/>
          </a:xfrm>
        </p:spPr>
        <p:txBody>
          <a:bodyPr/>
          <a:lstStyle/>
          <a:p>
            <a:r>
              <a:rPr lang="en-US" dirty="0"/>
              <a:t>Closure</a:t>
            </a:r>
          </a:p>
        </p:txBody>
      </p:sp>
      <p:sp>
        <p:nvSpPr>
          <p:cNvPr id="145" name="Text Placeholder 144">
            <a:extLst>
              <a:ext uri="{FF2B5EF4-FFF2-40B4-BE49-F238E27FC236}">
                <a16:creationId xmlns:a16="http://schemas.microsoft.com/office/drawing/2014/main" id="{5C53A9E8-67CB-044F-12C9-8C444FBC5E3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427464" y="3391012"/>
            <a:ext cx="1996440" cy="778652"/>
          </a:xfrm>
        </p:spPr>
        <p:txBody>
          <a:bodyPr/>
          <a:lstStyle/>
          <a:p>
            <a:r>
              <a:rPr lang="en-US" dirty="0"/>
              <a:t>Documenting deliverables, conducting reviews, transitioning outcomes.</a:t>
            </a:r>
          </a:p>
        </p:txBody>
      </p:sp>
      <p:sp>
        <p:nvSpPr>
          <p:cNvPr id="154" name="Text Placeholder 153">
            <a:extLst>
              <a:ext uri="{FF2B5EF4-FFF2-40B4-BE49-F238E27FC236}">
                <a16:creationId xmlns:a16="http://schemas.microsoft.com/office/drawing/2014/main" id="{15E6A12E-9690-FBD5-1CAE-8D37EC4CB35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448800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22" name="Picture Placeholder 121" descr="Door Open outline">
            <a:extLst>
              <a:ext uri="{FF2B5EF4-FFF2-40B4-BE49-F238E27FC236}">
                <a16:creationId xmlns:a16="http://schemas.microsoft.com/office/drawing/2014/main" id="{D03F848E-1594-8E4D-2369-DF382495F443}"/>
              </a:ext>
            </a:extLst>
          </p:cNvPr>
          <p:cNvPicPr>
            <a:picLocks noGrp="1" noChangeAspect="1"/>
          </p:cNvPicPr>
          <p:nvPr>
            <p:ph type="pic" sz="quarter" idx="39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599038" y="4513453"/>
            <a:ext cx="457200" cy="457200"/>
          </a:xfrm>
        </p:spPr>
      </p:pic>
      <p:sp>
        <p:nvSpPr>
          <p:cNvPr id="155" name="Text Placeholder 154">
            <a:extLst>
              <a:ext uri="{FF2B5EF4-FFF2-40B4-BE49-F238E27FC236}">
                <a16:creationId xmlns:a16="http://schemas.microsoft.com/office/drawing/2014/main" id="{5D02CD86-EE72-2BC2-3E8A-CBC67F7EAC4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448800" y="4894756"/>
            <a:ext cx="893064" cy="335470"/>
          </a:xfrm>
        </p:spPr>
        <p:txBody>
          <a:bodyPr/>
          <a:lstStyle/>
          <a:p>
            <a:r>
              <a:rPr lang="en-US" dirty="0"/>
              <a:t>May</a:t>
            </a:r>
          </a:p>
        </p:txBody>
      </p:sp>
      <p:sp>
        <p:nvSpPr>
          <p:cNvPr id="241" name="Footer Placeholder 240">
            <a:extLst>
              <a:ext uri="{FF2B5EF4-FFF2-40B4-BE49-F238E27FC236}">
                <a16:creationId xmlns:a16="http://schemas.microsoft.com/office/drawing/2014/main" id="{0E49AC42-D7D0-1DBF-DB3D-53AF3A7A5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560" y="6072886"/>
            <a:ext cx="4114800" cy="365125"/>
          </a:xfrm>
        </p:spPr>
        <p:txBody>
          <a:bodyPr/>
          <a:lstStyle/>
          <a:p>
            <a:r>
              <a:rPr lang="en-US" dirty="0"/>
              <a:t>RELECLOUD / PROJECT TIMELINE</a:t>
            </a:r>
          </a:p>
        </p:txBody>
      </p:sp>
      <p:sp>
        <p:nvSpPr>
          <p:cNvPr id="304" name="Slide Number Placeholder 303">
            <a:extLst>
              <a:ext uri="{FF2B5EF4-FFF2-40B4-BE49-F238E27FC236}">
                <a16:creationId xmlns:a16="http://schemas.microsoft.com/office/drawing/2014/main" id="{F5CF2189-9396-98CA-20BE-C96BEA962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8616" y="6072886"/>
            <a:ext cx="2743200" cy="365125"/>
          </a:xfrm>
        </p:spPr>
        <p:txBody>
          <a:bodyPr/>
          <a:lstStyle/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2</a:t>
            </a:fld>
            <a:endParaRPr lang="en-US" dirty="0"/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7178B4CA-AAA9-04D3-7DCC-9AF67D4B6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199568" y="1475740"/>
            <a:ext cx="3291058" cy="0"/>
          </a:xfrm>
          <a:prstGeom prst="line">
            <a:avLst/>
          </a:prstGeom>
          <a:ln w="28575">
            <a:gradFill>
              <a:gsLst>
                <a:gs pos="0">
                  <a:schemeClr val="accent1"/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19872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16411243">
      <a:dk1>
        <a:srgbClr val="000000"/>
      </a:dk1>
      <a:lt1>
        <a:srgbClr val="FFFFFF"/>
      </a:lt1>
      <a:dk2>
        <a:srgbClr val="2B2E42"/>
      </a:dk2>
      <a:lt2>
        <a:srgbClr val="E7E6E6"/>
      </a:lt2>
      <a:accent1>
        <a:srgbClr val="F4CE2F"/>
      </a:accent1>
      <a:accent2>
        <a:srgbClr val="D23958"/>
      </a:accent2>
      <a:accent3>
        <a:srgbClr val="F58020"/>
      </a:accent3>
      <a:accent4>
        <a:srgbClr val="009AD5"/>
      </a:accent4>
      <a:accent5>
        <a:srgbClr val="0479CE"/>
      </a:accent5>
      <a:accent6>
        <a:srgbClr val="25C29C"/>
      </a:accent6>
      <a:hlink>
        <a:srgbClr val="0563C1"/>
      </a:hlink>
      <a:folHlink>
        <a:srgbClr val="954F72"/>
      </a:folHlink>
    </a:clrScheme>
    <a:fontScheme name="Custom 70">
      <a:majorFont>
        <a:latin typeface="Avenir Next LT Pro Demi"/>
        <a:ea typeface=""/>
        <a:cs typeface=""/>
      </a:majorFont>
      <a:minorFont>
        <a:latin typeface="Avenir Next LT Pro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3_Win32_SL_v4" id="{5E1028BC-039D-4A85-8182-5BC71B8BBFDB}" vid="{8FC0B532-47E6-48BF-A500-9A0D2EC4382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0A68F62-F174-4677-B07F-B071C4E6C2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36CDCFB-1550-438B-8C76-AE76FBCD315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FF118E-0388-4333-9D85-CA81E2C8D16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{2CD80879-F029-4AA3-B162-98C69503D804}TFddc1ce9b-eb75-4d85-a28a-1edab7faa0b756df1501_win32-bf83c0c841c0</Template>
  <TotalTime>498</TotalTime>
  <Words>361</Words>
  <Application>Microsoft Office PowerPoint</Application>
  <PresentationFormat>Widescreen</PresentationFormat>
  <Paragraphs>47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Avenir Next LT Pro </vt:lpstr>
      <vt:lpstr>Avenir Next LT Pro Demi</vt:lpstr>
      <vt:lpstr>Calibri</vt:lpstr>
      <vt:lpstr>Custom</vt:lpstr>
      <vt:lpstr>Can Track Sequencers be Relevant in Modern Game Development?</vt:lpstr>
      <vt:lpstr>Project timeline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Moullec, Adrien</dc:creator>
  <cp:lastModifiedBy>Moullec, Adrien</cp:lastModifiedBy>
  <cp:revision>4</cp:revision>
  <dcterms:created xsi:type="dcterms:W3CDTF">2026-05-07T17:20:41Z</dcterms:created>
  <dcterms:modified xsi:type="dcterms:W3CDTF">2026-05-08T20:45:48Z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