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7"/>
  </p:notesMasterIdLst>
  <p:handoutMasterIdLst>
    <p:handoutMasterId r:id="rId8"/>
  </p:handoutMasterIdLst>
  <p:sldIdLst>
    <p:sldId id="286" r:id="rId5"/>
    <p:sldId id="28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11A"/>
    <a:srgbClr val="00044C"/>
    <a:srgbClr val="25C29C"/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86" autoAdjust="0"/>
  </p:normalViewPr>
  <p:slideViewPr>
    <p:cSldViewPr snapToGrid="0" showGuides="1">
      <p:cViewPr>
        <p:scale>
          <a:sx n="100" d="100"/>
          <a:sy n="100" d="100"/>
        </p:scale>
        <p:origin x="264" y="294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3A-4EB6-964E-D29AFAC044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3A-4EB6-964E-D29AFAC044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3A-4EB6-964E-D29AFAC04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78353743"/>
        <c:axId val="1278367183"/>
      </c:barChart>
      <c:catAx>
        <c:axId val="1278353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367183"/>
        <c:crosses val="autoZero"/>
        <c:auto val="1"/>
        <c:lblAlgn val="ctr"/>
        <c:lblOffset val="100"/>
        <c:noMultiLvlLbl val="0"/>
      </c:catAx>
      <c:valAx>
        <c:axId val="127836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353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5/22/2026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2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B149DF3-3518-107D-96F5-57AB88FD68F6}"/>
              </a:ext>
            </a:extLst>
          </p:cNvPr>
          <p:cNvSpPr/>
          <p:nvPr/>
        </p:nvSpPr>
        <p:spPr>
          <a:xfrm>
            <a:off x="7438257" y="5095622"/>
            <a:ext cx="4605665" cy="1613224"/>
          </a:xfrm>
          <a:prstGeom prst="roundRect">
            <a:avLst>
              <a:gd name="adj" fmla="val 762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702137-7B68-0942-D341-7B268DDDF63D}"/>
              </a:ext>
            </a:extLst>
          </p:cNvPr>
          <p:cNvSpPr/>
          <p:nvPr/>
        </p:nvSpPr>
        <p:spPr>
          <a:xfrm>
            <a:off x="3760032" y="3124857"/>
            <a:ext cx="3298786" cy="1613224"/>
          </a:xfrm>
          <a:prstGeom prst="roundRect">
            <a:avLst>
              <a:gd name="adj" fmla="val 762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D42FCE-69C5-E03D-091A-3A10E42EC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550" y="1830991"/>
            <a:ext cx="1683475" cy="778897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161D79-24C0-1DBA-EC5D-4ACC645FBC7D}"/>
              </a:ext>
            </a:extLst>
          </p:cNvPr>
          <p:cNvSpPr/>
          <p:nvPr/>
        </p:nvSpPr>
        <p:spPr>
          <a:xfrm>
            <a:off x="157982" y="4892716"/>
            <a:ext cx="3367573" cy="1865169"/>
          </a:xfrm>
          <a:prstGeom prst="roundRect">
            <a:avLst>
              <a:gd name="adj" fmla="val 4163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F40875-B05D-EA92-6D1C-618B270BAC36}"/>
              </a:ext>
            </a:extLst>
          </p:cNvPr>
          <p:cNvSpPr/>
          <p:nvPr/>
        </p:nvSpPr>
        <p:spPr>
          <a:xfrm>
            <a:off x="171671" y="1222490"/>
            <a:ext cx="3328054" cy="1684745"/>
          </a:xfrm>
          <a:prstGeom prst="roundRect">
            <a:avLst>
              <a:gd name="adj" fmla="val 7621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2FCCB-C668-E375-745A-4092D4D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0098"/>
            <a:ext cx="12191999" cy="1097915"/>
          </a:xfrm>
        </p:spPr>
        <p:txBody>
          <a:bodyPr>
            <a:normAutofit/>
          </a:bodyPr>
          <a:lstStyle/>
          <a:p>
            <a:r>
              <a:rPr lang="en-US" sz="3000" b="1" dirty="0"/>
              <a:t>Can Track Sequencers be Relevant in Modern Game Development?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15DBE-C581-DF12-8B02-1BB4FA99B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02821" y="728275"/>
            <a:ext cx="9064752" cy="511175"/>
          </a:xfrm>
        </p:spPr>
        <p:txBody>
          <a:bodyPr/>
          <a:lstStyle/>
          <a:p>
            <a:r>
              <a:rPr lang="en-US" dirty="0"/>
              <a:t>Adrienne Moullec - University of Gloucestershire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1EFE-C206-4E9F-1ECA-69B8E8047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8434" y="1287121"/>
            <a:ext cx="2721668" cy="38119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4798AF-C115-FD01-660C-FACB9324AE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8434" y="1690648"/>
            <a:ext cx="3364992" cy="1266834"/>
          </a:xfrm>
        </p:spPr>
        <p:txBody>
          <a:bodyPr/>
          <a:lstStyle/>
          <a:p>
            <a:r>
              <a:rPr lang="en-US" sz="800" dirty="0"/>
              <a:t>Music track sequencing was used in older game consoles where storage space and audio capabilities were limited. Music used to be a list of text commands that played preset instrumental tones. Audio has since been upgraded to pre-recorded tracks, creating greater immersive experiences.</a:t>
            </a:r>
          </a:p>
          <a:p>
            <a:r>
              <a:rPr lang="en-US" sz="800" dirty="0"/>
              <a:t>This research dives into the history of music in gaming and explores the question “Can track sequencers be relevant in modern game development?”.</a:t>
            </a:r>
          </a:p>
          <a:p>
            <a:endParaRPr lang="en-US" sz="900" dirty="0"/>
          </a:p>
        </p:txBody>
      </p:sp>
      <p:pic>
        <p:nvPicPr>
          <p:cNvPr id="216" name="Picture Placeholder 215" descr="Game controller outline">
            <a:extLst>
              <a:ext uri="{FF2B5EF4-FFF2-40B4-BE49-F238E27FC236}">
                <a16:creationId xmlns:a16="http://schemas.microsoft.com/office/drawing/2014/main" id="{77F5520F-24C4-6968-9481-7307959BD53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733149" y="1224191"/>
            <a:ext cx="457200" cy="4572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2FED6-AAD8-5F8E-79B4-DF24A78237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62835" y="3221973"/>
            <a:ext cx="1996440" cy="38119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09AC-45B9-55D7-27D2-36A3565F37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60032" y="3648979"/>
            <a:ext cx="3298785" cy="1099024"/>
          </a:xfrm>
        </p:spPr>
        <p:txBody>
          <a:bodyPr/>
          <a:lstStyle/>
          <a:p>
            <a:pPr marL="171450" indent="-171450"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800" dirty="0"/>
              <a:t>Demonstrate the potential of legacy music playback formats in modern systems. </a:t>
            </a:r>
          </a:p>
          <a:p>
            <a:pPr marL="171450" indent="-171450"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800" dirty="0"/>
              <a:t>Allow quick prototype or full music production for a game developer.</a:t>
            </a:r>
          </a:p>
          <a:p>
            <a:pPr marL="171450" indent="-171450"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800" dirty="0"/>
              <a:t>Removes the barrier between level design/gameplay programming and music creation.</a:t>
            </a:r>
          </a:p>
          <a:p>
            <a:pPr marL="171450" indent="-171450"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800" dirty="0"/>
              <a:t>Allow for future modification of tracks due to the text-command style of music files such as transformative or generative music.</a:t>
            </a:r>
          </a:p>
        </p:txBody>
      </p:sp>
      <p:pic>
        <p:nvPicPr>
          <p:cNvPr id="248" name="Picture Placeholder 247" descr="Notebook">
            <a:extLst>
              <a:ext uri="{FF2B5EF4-FFF2-40B4-BE49-F238E27FC236}">
                <a16:creationId xmlns:a16="http://schemas.microsoft.com/office/drawing/2014/main" id="{80BB589F-B280-8794-B12E-C4B4F9F40D8F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020" b="1020"/>
          <a:stretch/>
        </p:blipFill>
        <p:spPr>
          <a:xfrm>
            <a:off x="5754248" y="3140405"/>
            <a:ext cx="457200" cy="4572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718A59-7FF0-150D-65DA-7E2BCFAC7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8078" y="4977984"/>
            <a:ext cx="2587752" cy="38119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D98222-E384-9A18-1F02-89CAC7CC3B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7983" y="5409420"/>
            <a:ext cx="3430295" cy="1355848"/>
          </a:xfrm>
        </p:spPr>
        <p:txBody>
          <a:bodyPr/>
          <a:lstStyle/>
          <a:p>
            <a:pPr fontAlgn="base"/>
            <a:r>
              <a:rPr lang="en-GB" sz="800" dirty="0"/>
              <a:t>The first step is creating an sf2 file playback method, using </a:t>
            </a:r>
            <a:r>
              <a:rPr lang="en-GB" sz="800" dirty="0" err="1"/>
              <a:t>TinySoundFont</a:t>
            </a:r>
            <a:r>
              <a:rPr lang="en-GB" sz="800" dirty="0"/>
              <a:t> in C, that can be read by other applications. A sequence editor tool !!!!!!! will be created to create and adjust musical files.</a:t>
            </a:r>
          </a:p>
          <a:p>
            <a:pPr fontAlgn="base"/>
            <a:r>
              <a:rPr lang="en-GB" sz="800" dirty="0"/>
              <a:t>Samples of tracker sequence playback will be implemented in a Unity project for game testers to play. An accompanying questionnaire will provide input on the authenticity and immersion of the music. </a:t>
            </a:r>
          </a:p>
          <a:p>
            <a:pPr fontAlgn="base"/>
            <a:r>
              <a:rPr lang="en-GB" sz="800" dirty="0"/>
              <a:t>The results of these playtest will allow insight into the direction and potential that this type of music format holds.</a:t>
            </a:r>
          </a:p>
        </p:txBody>
      </p:sp>
      <p:pic>
        <p:nvPicPr>
          <p:cNvPr id="250" name="Picture Placeholder 249" descr="Notebook Cover Icon">
            <a:extLst>
              <a:ext uri="{FF2B5EF4-FFF2-40B4-BE49-F238E27FC236}">
                <a16:creationId xmlns:a16="http://schemas.microsoft.com/office/drawing/2014/main" id="{F527D6BB-A9B3-378E-8050-7344D01546AF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20" r="1020"/>
          <a:stretch/>
        </p:blipFill>
        <p:spPr>
          <a:xfrm>
            <a:off x="2626591" y="4892717"/>
            <a:ext cx="457200" cy="4572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668396-55B1-62F2-1540-284A767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26418" y="1220894"/>
            <a:ext cx="1996440" cy="38119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252" name="Picture Placeholder 251" descr="Control Icon">
            <a:extLst>
              <a:ext uri="{FF2B5EF4-FFF2-40B4-BE49-F238E27FC236}">
                <a16:creationId xmlns:a16="http://schemas.microsoft.com/office/drawing/2014/main" id="{1F80EB59-7B2B-552F-D090-B761060668A6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51201" y="1160761"/>
            <a:ext cx="457200" cy="4572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43785B-1A6D-E1D6-6E52-FE4E67D01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55374" y="4638422"/>
            <a:ext cx="2656332" cy="38119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478444-AE6E-47B8-62DC-D7A140229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69382" y="5165445"/>
            <a:ext cx="4676255" cy="1422654"/>
          </a:xfrm>
        </p:spPr>
        <p:txBody>
          <a:bodyPr/>
          <a:lstStyle/>
          <a:p>
            <a:r>
              <a:rPr lang="en-US" sz="900" dirty="0"/>
              <a:t>In conclusion, the results demonstrate …………………………………………………………………………………….</a:t>
            </a:r>
          </a:p>
          <a:p>
            <a:r>
              <a:rPr lang="en-US" sz="900" dirty="0"/>
              <a:t>Producing track sequencer music files can easily be created and altered, but require specialist tools and training. Using a track sequencer only requires music knowledge; implementing it into a project needs programming skills.</a:t>
            </a:r>
          </a:p>
          <a:p>
            <a:r>
              <a:rPr lang="en-US" sz="900" dirty="0"/>
              <a:t>This method of game music requires </a:t>
            </a:r>
            <a:r>
              <a:rPr lang="en-US" sz="900"/>
              <a:t>further study to </a:t>
            </a:r>
            <a:r>
              <a:rPr lang="en-US" sz="900" dirty="0"/>
              <a:t>ascertain its functionality within the creative industry.</a:t>
            </a:r>
          </a:p>
          <a:p>
            <a:r>
              <a:rPr lang="en-US" sz="900" dirty="0"/>
              <a:t>A larger demographic of game testers would improve the feedback and </a:t>
            </a:r>
          </a:p>
        </p:txBody>
      </p:sp>
      <p:pic>
        <p:nvPicPr>
          <p:cNvPr id="254" name="Picture Placeholder 253" descr="Door opening icon">
            <a:extLst>
              <a:ext uri="{FF2B5EF4-FFF2-40B4-BE49-F238E27FC236}">
                <a16:creationId xmlns:a16="http://schemas.microsoft.com/office/drawing/2014/main" id="{745667E5-35F8-39AC-E268-62AE0F238D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21304" y="4562410"/>
            <a:ext cx="457200" cy="457200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1F7D99-95D6-3DC3-0374-0DE532900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8675" y="1032699"/>
            <a:ext cx="12714225" cy="1985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Placeholder 33" descr="Harvey Balls 100% outline">
            <a:extLst>
              <a:ext uri="{FF2B5EF4-FFF2-40B4-BE49-F238E27FC236}">
                <a16:creationId xmlns:a16="http://schemas.microsoft.com/office/drawing/2014/main" id="{9389C35E-CB35-9695-83FB-56EB11B0656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359547" y="50519"/>
            <a:ext cx="635766" cy="635766"/>
          </a:xfrm>
        </p:spPr>
      </p:pic>
      <p:pic>
        <p:nvPicPr>
          <p:cNvPr id="37" name="Picture Placeholder 33" descr="Music notation with solid fill">
            <a:extLst>
              <a:ext uri="{FF2B5EF4-FFF2-40B4-BE49-F238E27FC236}">
                <a16:creationId xmlns:a16="http://schemas.microsoft.com/office/drawing/2014/main" id="{D5F5E0E8-7F9D-1052-4DB0-3C9EB2B06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-908906" y="-2611848"/>
            <a:ext cx="727809" cy="12510591"/>
          </a:xfrm>
          <a:prstGeom prst="ellipse">
            <a:avLst/>
          </a:prstGeom>
          <a:ln w="22225">
            <a:noFill/>
          </a:ln>
        </p:spPr>
      </p:pic>
      <p:pic>
        <p:nvPicPr>
          <p:cNvPr id="38" name="Picture Placeholder 33" descr="Harvey Balls 0% with solid fill">
            <a:extLst>
              <a:ext uri="{FF2B5EF4-FFF2-40B4-BE49-F238E27FC236}">
                <a16:creationId xmlns:a16="http://schemas.microsoft.com/office/drawing/2014/main" id="{FE7CF5C5-05D7-5829-85F6-0D447310E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12301" y="-8817"/>
            <a:ext cx="822960" cy="822960"/>
          </a:xfrm>
          <a:prstGeom prst="ellipse">
            <a:avLst/>
          </a:prstGeom>
          <a:ln w="22225">
            <a:noFill/>
          </a:ln>
        </p:spPr>
      </p:pic>
      <p:pic>
        <p:nvPicPr>
          <p:cNvPr id="60" name="Picture Placeholder 33" descr="Music note with solid fill">
            <a:extLst>
              <a:ext uri="{FF2B5EF4-FFF2-40B4-BE49-F238E27FC236}">
                <a16:creationId xmlns:a16="http://schemas.microsoft.com/office/drawing/2014/main" id="{19C70016-CA91-A324-6556-3E43A969D5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1034621" y="214272"/>
            <a:ext cx="324926" cy="324926"/>
          </a:xfrm>
          <a:prstGeom prst="ellipse">
            <a:avLst/>
          </a:prstGeom>
          <a:ln w="22225">
            <a:noFill/>
          </a:ln>
        </p:spPr>
      </p:pic>
      <p:pic>
        <p:nvPicPr>
          <p:cNvPr id="61" name="Picture Placeholder 33" descr="Music notes with solid fill">
            <a:extLst>
              <a:ext uri="{FF2B5EF4-FFF2-40B4-BE49-F238E27FC236}">
                <a16:creationId xmlns:a16="http://schemas.microsoft.com/office/drawing/2014/main" id="{CD72E53F-305F-3E70-77AF-8ED3E1F1F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96" b="96"/>
          <a:stretch>
            <a:fillRect/>
          </a:stretch>
        </p:blipFill>
        <p:spPr>
          <a:xfrm>
            <a:off x="11489288" y="152278"/>
            <a:ext cx="376284" cy="376284"/>
          </a:xfrm>
          <a:prstGeom prst="ellipse">
            <a:avLst/>
          </a:prstGeom>
          <a:ln w="22225">
            <a:noFill/>
          </a:ln>
        </p:spPr>
      </p:pic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340B8317-E353-6339-47FD-6256E22A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44146" y="1602448"/>
            <a:ext cx="2424684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00485201-EBCD-3B17-CFB3-F3E6C6091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26848" y="3529833"/>
            <a:ext cx="1813153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477D483A-1F7C-6EE9-5C3F-35F880115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6092" y="5268023"/>
            <a:ext cx="2328476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E0381664-FDE6-1C61-B792-B04EF1F0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15632" y="1540141"/>
            <a:ext cx="1226542" cy="837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774EA625-3F51-B2CE-1BAD-BD842A45F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48495" y="4935102"/>
            <a:ext cx="2115155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AE5CE50-ADD5-9554-96C4-76188162E7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006662"/>
              </p:ext>
            </p:extLst>
          </p:nvPr>
        </p:nvGraphicFramePr>
        <p:xfrm>
          <a:off x="7426418" y="1658543"/>
          <a:ext cx="2700585" cy="1795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F94EFD76-C369-ECF3-6857-B780AE3F8D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4729" y="3153097"/>
            <a:ext cx="2490055" cy="14435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5CE708-A853-2C3E-983C-35C803DD1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3273" y="1032699"/>
            <a:ext cx="0" cy="5814766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8F13D3BE-934C-8F0A-7F14-A4A6002998E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08" t="15273" r="-608" b="13970"/>
          <a:stretch>
            <a:fillRect/>
          </a:stretch>
        </p:blipFill>
        <p:spPr>
          <a:xfrm>
            <a:off x="3647745" y="1397303"/>
            <a:ext cx="2233675" cy="13132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37669C3-50E5-D9D4-72CB-F4B3AAB9DEE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933" t="3180" r="3871" b="21086"/>
          <a:stretch>
            <a:fillRect/>
          </a:stretch>
        </p:blipFill>
        <p:spPr>
          <a:xfrm>
            <a:off x="1160470" y="4147169"/>
            <a:ext cx="2486456" cy="44943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FDE0753-056F-C374-0FF8-33E01B87FE9C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b="18555"/>
          <a:stretch>
            <a:fillRect/>
          </a:stretch>
        </p:blipFill>
        <p:spPr>
          <a:xfrm>
            <a:off x="3713909" y="5039408"/>
            <a:ext cx="2682805" cy="1496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76289639-2865-1374-7CE0-28AB5C41F2D6}"/>
              </a:ext>
            </a:extLst>
          </p:cNvPr>
          <p:cNvSpPr txBox="1">
            <a:spLocks/>
          </p:cNvSpPr>
          <p:nvPr/>
        </p:nvSpPr>
        <p:spPr>
          <a:xfrm>
            <a:off x="7380474" y="3514885"/>
            <a:ext cx="4676255" cy="1422654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F0000"/>
                </a:solidFill>
              </a:rPr>
              <a:t>Notes about results here.</a:t>
            </a:r>
          </a:p>
        </p:txBody>
      </p:sp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2DEC2AB0-AD5D-23DE-B7FB-17CD20BB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4F33FBC-ED8B-5877-6570-004051152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30" name="Picture Placeholder 157" descr="Cloud Icon">
            <a:extLst>
              <a:ext uri="{FF2B5EF4-FFF2-40B4-BE49-F238E27FC236}">
                <a16:creationId xmlns:a16="http://schemas.microsoft.com/office/drawing/2014/main" id="{413EA097-7B19-8BB7-BCF4-6FC6A0DDC3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9DAC9834-0E75-E542-2370-0FDBC1CC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3AB5C4FD-1C4E-72A5-479C-56B52402F1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F2A039BC-EA78-7EE5-5BCD-6445C12EFA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90" name="Picture Placeholder 89" descr="3d Glasses outline">
            <a:extLst>
              <a:ext uri="{FF2B5EF4-FFF2-40B4-BE49-F238E27FC236}">
                <a16:creationId xmlns:a16="http://schemas.microsoft.com/office/drawing/2014/main" id="{A9898713-8A99-08D7-637C-53C4E2404AD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063DDA4C-AD55-B53D-8A28-95C0BBBBA2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7574CEC2-3920-9E1F-1DC2-7551B8D28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C759D89D-5722-47C0-8606-D901DEFAA8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91D5A8AA-0B24-DA3A-3D0F-D626603B9A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19" name="Picture Placeholder 118" descr="Blueprint outline">
            <a:extLst>
              <a:ext uri="{FF2B5EF4-FFF2-40B4-BE49-F238E27FC236}">
                <a16:creationId xmlns:a16="http://schemas.microsoft.com/office/drawing/2014/main" id="{A934FCB9-7C01-1298-196C-DA9C13B08FA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49" name="Text Placeholder 148">
            <a:extLst>
              <a:ext uri="{FF2B5EF4-FFF2-40B4-BE49-F238E27FC236}">
                <a16:creationId xmlns:a16="http://schemas.microsoft.com/office/drawing/2014/main" id="{D2CCFB70-D3C5-F09B-94B6-4FABA1494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BEC632B1-B9E6-3EE9-91AC-C47F5219FE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CAC3E407-C96F-DE57-9910-64CBADB843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50" name="Text Placeholder 149">
            <a:extLst>
              <a:ext uri="{FF2B5EF4-FFF2-40B4-BE49-F238E27FC236}">
                <a16:creationId xmlns:a16="http://schemas.microsoft.com/office/drawing/2014/main" id="{B65663B2-F5C5-DC40-A432-3D45450951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0" name="Picture Placeholder 119" descr="Playbook outline">
            <a:extLst>
              <a:ext uri="{FF2B5EF4-FFF2-40B4-BE49-F238E27FC236}">
                <a16:creationId xmlns:a16="http://schemas.microsoft.com/office/drawing/2014/main" id="{AC7FDD67-FD6B-557E-102B-1F5EB87B3FD0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151" name="Text Placeholder 150">
            <a:extLst>
              <a:ext uri="{FF2B5EF4-FFF2-40B4-BE49-F238E27FC236}">
                <a16:creationId xmlns:a16="http://schemas.microsoft.com/office/drawing/2014/main" id="{C9A94E6D-A15E-3826-0843-D88B208092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A1232BD9-9CC5-ECC6-760C-C0CE012294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EAEE197-84A9-7E49-AC95-96B3645EA8C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A60F538F-FE8B-37AC-23F8-0921E8BA77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1" name="Picture Placeholder 120" descr="Continuous Improvement outline">
            <a:extLst>
              <a:ext uri="{FF2B5EF4-FFF2-40B4-BE49-F238E27FC236}">
                <a16:creationId xmlns:a16="http://schemas.microsoft.com/office/drawing/2014/main" id="{ECE2A6B8-4CDC-FC62-4720-88375F6083D2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153" name="Text Placeholder 152">
            <a:extLst>
              <a:ext uri="{FF2B5EF4-FFF2-40B4-BE49-F238E27FC236}">
                <a16:creationId xmlns:a16="http://schemas.microsoft.com/office/drawing/2014/main" id="{2E64157C-14E1-D827-6C8B-B2C68325511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F744DCC4-E9B7-1CE6-4798-D32E323FD0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5C53A9E8-67CB-044F-12C9-8C444FBC5E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154" name="Text Placeholder 153">
            <a:extLst>
              <a:ext uri="{FF2B5EF4-FFF2-40B4-BE49-F238E27FC236}">
                <a16:creationId xmlns:a16="http://schemas.microsoft.com/office/drawing/2014/main" id="{15E6A12E-9690-FBD5-1CAE-8D37EC4CB35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2" name="Picture Placeholder 121" descr="Door Open outline">
            <a:extLst>
              <a:ext uri="{FF2B5EF4-FFF2-40B4-BE49-F238E27FC236}">
                <a16:creationId xmlns:a16="http://schemas.microsoft.com/office/drawing/2014/main" id="{D03F848E-1594-8E4D-2369-DF382495F4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155" name="Text Placeholder 154">
            <a:extLst>
              <a:ext uri="{FF2B5EF4-FFF2-40B4-BE49-F238E27FC236}">
                <a16:creationId xmlns:a16="http://schemas.microsoft.com/office/drawing/2014/main" id="{5D02CD86-EE72-2BC2-3E8A-CBC67F7EAC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241" name="Footer Placeholder 240">
            <a:extLst>
              <a:ext uri="{FF2B5EF4-FFF2-40B4-BE49-F238E27FC236}">
                <a16:creationId xmlns:a16="http://schemas.microsoft.com/office/drawing/2014/main" id="{0E49AC42-D7D0-1DBF-DB3D-53AF3A7A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F5CF2189-9396-98CA-20BE-C96BEA96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178B4CA-AAA9-04D3-7DCC-9AF67D4B6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9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{2CD80879-F029-4AA3-B162-98C69503D804}TFddc1ce9b-eb75-4d85-a28a-1edab7faa0b756df1501_win32-bf83c0c841c0</Template>
  <TotalTime>1619</TotalTime>
  <Words>405</Words>
  <Application>Microsoft Office PowerPoint</Application>
  <PresentationFormat>Widescreen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Avenir Next LT Pro </vt:lpstr>
      <vt:lpstr>Avenir Next LT Pro Demi</vt:lpstr>
      <vt:lpstr>Calibri</vt:lpstr>
      <vt:lpstr>Custom</vt:lpstr>
      <vt:lpstr>Can Track Sequencers be Relevant in Modern Game Development?</vt:lpstr>
      <vt:lpstr>Project timeline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Moullec, Adrien</dc:creator>
  <cp:lastModifiedBy>Moullec, Adrien</cp:lastModifiedBy>
  <cp:revision>9</cp:revision>
  <dcterms:created xsi:type="dcterms:W3CDTF">2026-05-07T17:20:41Z</dcterms:created>
  <dcterms:modified xsi:type="dcterms:W3CDTF">2026-05-22T18:43:57Z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